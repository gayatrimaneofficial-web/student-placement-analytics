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placement</c:v>
                </c:pt>
              </c:strCache>
            </c:strRef>
          </c:tx>
          <c:spPr>
            <a:solidFill>
              <a:srgbClr val="B02A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F5-426E-A3FB-1BAA301B7A12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F5-426E-A3FB-1BAA301B7A12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F5-426E-A3FB-1BAA301B7A12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F5-426E-A3FB-1BAA301B7A12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F5-426E-A3FB-1BAA301B7A12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5F5-426E-A3FB-1BAA301B7A12}"/>
              </c:ext>
            </c:extLst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5F5-426E-A3FB-1BAA301B7A12}"/>
              </c:ext>
            </c:extLst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5F5-426E-A3FB-1BAA301B7A1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Backlogs</c:v>
                </c:pt>
                <c:pt idx="1">
                  <c:v>Internships</c:v>
                </c:pt>
                <c:pt idx="2">
                  <c:v>Projects</c:v>
                </c:pt>
                <c:pt idx="3">
                  <c:v>Coding Score</c:v>
                </c:pt>
                <c:pt idx="4">
                  <c:v>Mock Interview</c:v>
                </c:pt>
                <c:pt idx="5">
                  <c:v>Logical Reasoning</c:v>
                </c:pt>
                <c:pt idx="6">
                  <c:v>Communication</c:v>
                </c:pt>
                <c:pt idx="7">
                  <c:v>Aptitude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-8.2000000000000003E-2</c:v>
                </c:pt>
                <c:pt idx="1">
                  <c:v>6.3E-2</c:v>
                </c:pt>
                <c:pt idx="2">
                  <c:v>6.0999999999999999E-2</c:v>
                </c:pt>
                <c:pt idx="3">
                  <c:v>5.0999999999999997E-2</c:v>
                </c:pt>
                <c:pt idx="4">
                  <c:v>4.5999999999999999E-2</c:v>
                </c:pt>
                <c:pt idx="5">
                  <c:v>3.5999999999999997E-2</c:v>
                </c:pt>
                <c:pt idx="6">
                  <c:v>3.2000000000000001E-2</c:v>
                </c:pt>
                <c:pt idx="7">
                  <c:v>3.2000000000000001E-2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5F5-426E-A3FB-1BAA301B7A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 rate (%)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5F-4C87-AE0D-E97D1C8350A1}"/>
              </c:ext>
            </c:extLst>
          </c:dPt>
          <c:dPt>
            <c:idx val="1"/>
            <c:invertIfNegative val="0"/>
            <c:bubble3D val="0"/>
            <c:spPr>
              <a:solidFill>
                <a:srgbClr val="3A4C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5F-4C87-AE0D-E97D1C8350A1}"/>
              </c:ext>
            </c:extLst>
          </c:dPt>
          <c:dPt>
            <c:idx val="2"/>
            <c:invertIfNegative val="0"/>
            <c:bubble3D val="0"/>
            <c:spPr>
              <a:solidFill>
                <a:srgbClr val="2735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5F-4C87-AE0D-E97D1C8350A1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5F-4C87-AE0D-E97D1C8350A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
(all students)</c:v>
                </c:pt>
                <c:pt idx="1">
                  <c:v>Strong Career
(intern+proj+cert)</c:v>
                </c:pt>
                <c:pt idx="2">
                  <c:v>Strong Academic
(CGPA+attend.+0 backlogs)</c:v>
                </c:pt>
                <c:pt idx="3">
                  <c:v>Strong Technical
(coding+apt.+logic ≥70)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54.46</c:v>
                </c:pt>
                <c:pt idx="1">
                  <c:v>56.42</c:v>
                </c:pt>
                <c:pt idx="2">
                  <c:v>57.86</c:v>
                </c:pt>
                <c:pt idx="3">
                  <c:v>60.14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5F-4C87-AE0D-E97D1C8350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46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72800" y="4297680"/>
            <a:ext cx="2926080" cy="2926080"/>
          </a:xfrm>
          <a:prstGeom prst="ellipse">
            <a:avLst/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Placement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placement outcomes across 100,000 students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  •    Python (Pandas, Seaborn)    •    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44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 |   Prepared by [Your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analysis, and what it needed to answer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66928" cy="566928"/>
          </a:xfrm>
          <a:prstGeom prst="ellipse">
            <a:avLst/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218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172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53872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Python, and Power BI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566928" cy="566928"/>
          </a:xfrm>
          <a:prstGeom prst="ellipse">
            <a:avLst/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4700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6542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502005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placement — and what doesn't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66928" cy="566928"/>
          </a:xfrm>
          <a:prstGeom prst="ellipse">
            <a:avLst/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Data Issue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2057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target-leakage bug found and corrected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218688"/>
            <a:ext cx="566928" cy="566928"/>
          </a:xfrm>
          <a:prstGeom prst="ellipse">
            <a:avLst/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3218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172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53872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evidence-based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700016"/>
            <a:ext cx="566928" cy="566928"/>
          </a:xfrm>
          <a:prstGeom prst="ellipse">
            <a:avLst/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4700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78040" y="46542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502005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placement strategy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Limited Placement Resources Go?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operate with limited coaching time, mock-interview slots, and skill-building budget. Deciding where to focus that capacity requires knowing which student attributes actually move placement outcomes — rather than relying on assumption.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55448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90372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analysis answers four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23317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0372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22585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placement rate, and how does it vary by branch, tier, and gender?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32918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0372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321868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show a real relationship with placement — and which commonly-assumed ones don't?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42519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0372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52360" y="417880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genuinely strong candidate profile look like?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52120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0372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</a:t>
            </a:r>
          </a:p>
        </p:txBody>
      </p:sp>
      <p:sp>
        <p:nvSpPr>
          <p:cNvPr id="18" name="Text 16"/>
          <p:cNvSpPr/>
          <p:nvPr/>
        </p:nvSpPr>
        <p:spPr>
          <a:xfrm>
            <a:off x="7452360" y="513892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data suitable for a future prediction model, and under what conditions?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99339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99339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99339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0" y="199339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54.46%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6404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placement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student across demographics, academics, practical experience, assessed skills, lifestyle habits, and placement outcome. The raw file arrived with zero missing values and zero duplicate rows — verified, not assumed.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54,459 Placed (54.46%)  vs.  45,541 Not Placed (45.54%) — close to even, well-suited to standard classification metrics.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Analytics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85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Audit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nulls, duplicates, dtypes, distributions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46045" y="212140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2331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2331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7749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7749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standardize, dedupe, derive placement_flag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83455" y="212140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7607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1490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1490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44 business-question queries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20865" y="212140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9813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9813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21" name="Text 19"/>
          <p:cNvSpPr/>
          <p:nvPr/>
        </p:nvSpPr>
        <p:spPr>
          <a:xfrm>
            <a:off x="705231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Visualization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5231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Seaborn — 6 charts, saved programmatically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58275" y="212140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355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355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8972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Dashboard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89720" y="3520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2-page dashboard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QA identified the Power BI page-count documentation mismatch and an EDA compatibility issue; both are documented or corrected in the final package.</a:t>
            </a:r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Outcomes, Overall</a:t>
            </a:r>
            <a:endParaRPr lang="en-US" sz="3000" dirty="0"/>
          </a:p>
        </p:txBody>
      </p:sp>
      <p:pic>
        <p:nvPicPr>
          <p:cNvPr id="4" name="Image 0" descr="figures/01_placement_statu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852160" cy="35971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344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Placement status distribution, Python / Seaborn (n = 100,000).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858000" y="182880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0" y="19933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54.46%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995160" y="28803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418320" y="182880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0" y="19933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0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45.54%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555480" y="28803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Placed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37033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54,459 students were placed and 45,541 were not — a close-to-balanced split that supports standard classification metrics like accuracy for any future model built on this data.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Doesn't Move the Needle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201168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CGPA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53.3% → 55.8%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CGPA bands (r = 0.012)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8064" y="178308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07792" y="201168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9504" y="283464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84.66% vs 84.82%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37490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vs. not placed — flat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47488" y="178308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57216" y="201168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38928" y="283464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54.08% – 55.17%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84648" y="37490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1.09-point spread, 6 branches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78308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06640" y="201168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Tier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88352" y="283464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54.28% – 54.72%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34072" y="37490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0.44-point spread, 3 tiers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46336" y="178308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56064" y="201168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37776" y="283464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54.38% vs 54.51%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83496" y="37490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0.13-point spread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five variables most commonly assumed to drive placement — none show a meaningful gap in this dataset. Treating any of them as a primary lever would misallocate coaching effort.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Placement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10642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non-leaked correlations with placement_flag (Pearson r). No single legitimate feature exceeds |r| = 0.08 — effects are real but individually modest.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Internships &amp; Projects: The Clearest Levers</a:t>
            </a:r>
            <a:endParaRPr lang="en-US" sz="3000" dirty="0"/>
          </a:p>
        </p:txBody>
      </p:sp>
      <p:pic>
        <p:nvPicPr>
          <p:cNvPr id="4" name="Image 0" descr="figures/04_placement_rate_by_interns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257800" cy="2573574"/>
          </a:xfrm>
          <a:prstGeom prst="rect">
            <a:avLst/>
          </a:prstGeom>
        </p:spPr>
      </p:pic>
      <p:pic>
        <p:nvPicPr>
          <p:cNvPr id="5" name="Image 1" descr="figures/05_placement_rate_by_proj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91640"/>
            <a:ext cx="5257800" cy="25735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31093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Placement rate by internships.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263640" y="431093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Placement rate by projects.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internship vs. none: +5.3 points (55.6% vs. 50.3%).   0–2 projects vs. 9+: 51.8% → 71.8% — the largest step-up of any non-leaked factor.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Picture: Correlation Matrix</a:t>
            </a:r>
            <a:endParaRPr lang="en-US" sz="3000" dirty="0"/>
          </a:p>
        </p:txBody>
      </p:sp>
      <p:pic>
        <p:nvPicPr>
          <p:cNvPr id="4" name="Image 0" descr="figures/06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318" y="1508760"/>
            <a:ext cx="9713168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Full correlation matrix, all numeric fields, Python / Seaborn (student_id excluded).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7A1D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FINDING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Leakage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salary_package_lpa correlates r = 0.98 with placement_flag — implausibly high for a genuine predictor.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080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3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EDA (Python) · Proven in SQL query 44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17720" y="5486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proof, row by row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43000"/>
          <a:ext cx="6675120" cy="1280160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&gt;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Placed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45,541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54,459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54,459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17720" y="26974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is 0 for every single non-placed student and strictly positive for every single placed student. It is a deterministic proxy for the outcome — only knowable after placement happens — not an independent feature.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617720" y="3886200"/>
            <a:ext cx="667512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" name="Text 9"/>
          <p:cNvSpPr/>
          <p:nvPr/>
        </p:nvSpPr>
        <p:spPr>
          <a:xfrm>
            <a:off x="4892040" y="4114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modeling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892040" y="45262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with salary_package_lpa as an input will appear to predict placement near-perfectly — but it's reading the answer off a column that only exists because placement already happened. It must be excluded from any predictive model's feature set. It remains valid as a downstream outcome metric (e.g., salary analysis for students already placed).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Is Cumulative, Not Single-Factor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645920"/>
          <a:ext cx="10515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The strongest defined profile lifts placement rate by +5.7 points over baseline. The broader pattern is cumulative: technical, academic and experience signals are more useful together than as a single magic lever.</a:t>
            </a:r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Evidence-Based Actions (1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824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backlogs, not CGPA, as the early-warning signal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12140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is the strongest real driver (r = -0.082): 57.2% (0 backlogs) down to under 35% (4+). CGPA shows almost no relationship (r = 0.012).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1912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internship access for the zero-internship group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63016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internship vs. none is a 5.3-point placement gap (55.6% vs. 50.3%) — prioritize the ~22% of students with none.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7000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project-based learning core, not optional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513892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count shows the largest step-up of any non-leaked factor: 51.8% (0-2 projects) to 71.8% (9+ projects).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Evidence-Based Actions (2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</a:t>
            </a:r>
          </a:p>
        </p:txBody>
      </p:sp>
      <p:sp>
        <p:nvSpPr>
          <p:cNvPr id="6" name="Text 4"/>
          <p:cNvSpPr/>
          <p:nvPr/>
        </p:nvSpPr>
        <p:spPr>
          <a:xfrm>
            <a:off x="1325880" y="16824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mock interviews repeatedly, not once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12140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Mock-interview score shows an approximately 8-point placement-rate spread between the lowest and highest practical bands. It is a useful, coachable signal, although not one of the top Pearson correlations.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1912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technical and communication skills in parallel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63016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students score modestly higher on coding (70.5 vs 69.0), aptitude, and communication — small gaps that compound together.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7000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holistically — no single factor is a magic lever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513892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lift in the dataset (+5.7 pts) comes from combining strong technical, academic, and experiential factors together.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Findings With These Caveats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146304" cy="146304"/>
          </a:xfrm>
          <a:prstGeom prst="ellipse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characteristics (uniformly weak correlations, unusually precise decimal scores) suggest synthetic/generated data — treat findings as a methodology demonstration, not a real-world claim.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35224"/>
            <a:ext cx="146304" cy="146304"/>
          </a:xfrm>
          <a:prstGeom prst="ellipse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model has been trained yet. Scope covers EDA, SQL analysis, and BI dashboarding only.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146304" cy="146304"/>
          </a:xfrm>
          <a:prstGeom prst="ellipse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max |r| ≈ 0.08 on legitimate features, an honest classifier would likely land only modestly above the 54.5% majority-class baseline — that should be the expected, reported result.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38344"/>
            <a:ext cx="146304" cy="146304"/>
          </a:xfrm>
          <a:prstGeom prst="ellipse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 accompany the Python scripts — reasonable at this scope, but stated rather than implied otherwise.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Placement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206240" cy="4206240"/>
          </a:xfrm>
          <a:prstGeom prst="ellipse">
            <a:avLst/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ellipse">
            <a:avLst/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Over Assumption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CGPA, attendance, branch, and gender show little to no relationship with placement — while backlogs, internships, projects, and mock-interview readiness show real, actionable effects that compound when addressed together. A target-leakage issue and a documentation mismatch were identified during QA. The final package documents the limitations clearly so the dashboard can be presented accurately.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389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2519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4389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2519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9360" y="4389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42519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07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052560" y="4389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</a:t>
            </a:r>
          </a:p>
        </p:txBody>
      </p:sp>
      <p:sp>
        <p:nvSpPr>
          <p:cNvPr id="18" name="Text 16"/>
          <p:cNvSpPr/>
          <p:nvPr/>
        </p:nvSpPr>
        <p:spPr>
          <a:xfrm>
            <a:off x="905256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1425</Words>
  <Application>Microsoft Office PowerPoint</Application>
  <PresentationFormat>Widescreen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Gayatri Mane</cp:lastModifiedBy>
  <cp:revision>2</cp:revision>
  <dcterms:created xsi:type="dcterms:W3CDTF">2026-08-23T13:45:02Z</dcterms:created>
  <dcterms:modified xsi:type="dcterms:W3CDTF">2026-08-23T14:27:28Z</dcterms:modified>
</cp:coreProperties>
</file>